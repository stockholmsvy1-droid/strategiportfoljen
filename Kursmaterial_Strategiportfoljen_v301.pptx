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9" r:id="rId2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F2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651760"/>
            <a:ext cx="73152" cy="16459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📈 Strategiportföljen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BAD8F7"/>
                </a:solidFill>
              </a:rPr>
              <a:t>Din personliga aktieportfölj — ett cockpit, inte ett kalkylblad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C5FD"/>
                </a:solidFill>
              </a:rPr>
              <a:t>Kursmaterial för nybörjare · Version 3.011 ·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32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3C5FD"/>
                </a:solidFill>
              </a:rPr>
              <a:t>Byggd för Martin · Strategi från januari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Kursöversikt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Vad du lär dig under kursen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89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271016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Vad är appen?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554480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Syfte, plattform och teknik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34440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34440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9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271016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Kom igång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1554480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Importera Avanzafiler och se din portfölj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92808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892808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1947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1929384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Dashboard och signaler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212848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Nyckeltal, signalband och signaler-fliken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892808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892808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1947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1929384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Kategorier och strategi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212848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De 6 kategorierna, MA200 och ombalansering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51176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551176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606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25877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Innehav i detalj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871216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Tabellvy, sorterat, FX och andel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2551176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2551176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2606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25877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MA200 och Alpha Vantage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2871216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Automatisk hämtning av teknisk analys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209544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209544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324612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Kassa och ISK-skatt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529584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Likviditet, konton och skatteprognos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9544"/>
            <a:ext cx="54864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3209544"/>
            <a:ext cx="45720" cy="585216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A5E9"/>
                </a:solidFill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324612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Backup och underhåll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80" y="3529584"/>
            <a:ext cx="4892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Excel-export, återställning och veckorutin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1 — Vad är appen?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Syfte, plattform och teknik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3A5F"/>
                </a:solidFill>
              </a:rPr>
              <a:t>En HTML-fil som öppnas i webbläsaren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Inga installationer, inga inloggningar — öppna filen i Safari eller Chrome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All data sparas lokalt i webbläsaren (localStorage) — ingen server, ingen moln-synk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Fungerar på iPad, iPhone och dator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Publicerad på GitHub Pages — tillgänglig via URL när du bokmärkt sidan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3A5F"/>
                </a:solidFill>
              </a:rPr>
              <a:t>Syfte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9164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E293B"/>
                </a:solidFill>
              </a:rPr>
              <a:t>• Följa din portfölj veckovis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E293B"/>
                </a:solidFill>
              </a:rPr>
              <a:t>• Hantera MA200-signaler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E293B"/>
                </a:solidFill>
              </a:rPr>
              <a:t>• Hålla koll på kategorivikter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E293B"/>
                </a:solidFill>
              </a:rPr>
              <a:t>• Se FX-exponering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E293B"/>
                </a:solidFill>
              </a:rPr>
              <a:t>• Planera ombalansering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60520"/>
            <a:ext cx="11247120" cy="10972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4ED8"/>
                </a:solidFill>
              </a:rPr>
              <a:t>💡 Viktigt att veta om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Data synkroniseras INTE automatiskt mellan iPad och dator. Använd Excel-export (knappen uppe till höger) för att flytta data. Exportera backup regelbundet!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2 — Kom igång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Importera filer från Avanza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02920" cy="685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22529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Öppna avanza.se i Safari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361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Inte Avanza-appen — den saknar exportfunktion. Logga in på avanza.se.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40"/>
            <a:ext cx="502920" cy="685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8541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Exportera positionsfiler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9631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Min ekonomi → Innehav → Exportera → välj alla konton. Fil: positioner_DATUM.csv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08960"/>
            <a:ext cx="502920" cy="6858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14553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Exportera transaktionsfil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45643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Min ekonomi → Transaktioner → Exportera. Välj så brett datumintervall som möjligt.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69080"/>
            <a:ext cx="50292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10565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Importera i appen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4165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Gå till fliken Importera. Dra filerna till respektive ruta eller klicka för att välja.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029200"/>
            <a:ext cx="50292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1206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65776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3A5F"/>
                </a:solidFill>
              </a:rPr>
              <a:t>Kontrollera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37667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Portföljvärde, kategorivikter och signaler ska nu synas korrekt.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3 — Dashboard och signaler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Portföljens kontrollpanel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035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24358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💰 Totalt portföljvärde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536192"/>
            <a:ext cx="5102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Summa av alla innehav + kassa. Badge visar "Manuell baslinje aktiv" om du angett 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3035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64008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24358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📊 Periodutveckling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1536192"/>
            <a:ext cx="5102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Avkastning inkl. och exkl. insättningar för vald period. ▼ Visa beräkningsunderlag.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58568"/>
            <a:ext cx="53035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258568"/>
            <a:ext cx="64008" cy="960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31343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🔴 Signalband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2606039"/>
            <a:ext cx="5102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Rött band visas om det finns säljsignaler, nödutgångar eller ombalanseringsbehov. Klicka → Signaler-fliken.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258568"/>
            <a:ext cx="53035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258568"/>
            <a:ext cx="64008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231343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🥧 Kategoridonut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606039"/>
            <a:ext cx="5102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Fördelning per kategori + kassa som grå sektor. Ge en snabb bild av viktbalansen.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328415"/>
            <a:ext cx="53035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64008" cy="9601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38327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💱 FX-exponering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3675887"/>
            <a:ext cx="5102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Andel av portföljen i SEK, USD, EUR m.m. som donut och färgade pills.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328415"/>
            <a:ext cx="53035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328415"/>
            <a:ext cx="64008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338327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📉 Avkastningsstaplar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3675887"/>
            <a:ext cx="5102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Horisontella staplar per kategori för vald period. Grön = plus, röd = minus.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4 — Kategorier och strategi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De 6 kategorierna och MA200-reglerna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394960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⚓ Ankaret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2618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35–40%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459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Indexfonder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20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Säljs aldrig vid dipp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5394960" cy="3657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2344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💰 Kassaflödet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126187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20–25%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6459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Utdelningsaktier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Säljs aldrig vid dipp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5176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651760"/>
            <a:ext cx="539496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69748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Infrastrukturen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724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15–20%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AI-hårdvara/chip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383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MA200 + tvådagarsregel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65176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51760"/>
            <a:ext cx="5394960" cy="3657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69748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🧠 Hjärnan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2724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8–12%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AI-mjukvara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83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MA200 + tvådagarsregel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11480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114800"/>
            <a:ext cx="5394960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1605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🛡️ Skölden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18795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8–12%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Försvarsindustri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846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MA200 + tvådagarsregel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11480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114800"/>
            <a:ext cx="5394960" cy="36576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1605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✨ Berättelser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32720" y="418795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0–5%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572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Kryddor/teman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846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MA200 + tvådagarsregel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4 (forts.) — MA200-signaler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Tvådagarsregel och nödutgångar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1133856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286000" cy="7589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🟢 Grön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417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</a:rPr>
              <a:t>Kurs över MA200. Håll kvar.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21408"/>
            <a:ext cx="1133856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21408"/>
            <a:ext cx="2286000" cy="7589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042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🟡 Gul / Gummiband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0428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</a:rPr>
              <a:t>Kurs &gt;15% ovanför MA200 — kurs kan vara sträckt. Ingen säljsignal.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08376"/>
            <a:ext cx="1133856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008376"/>
            <a:ext cx="2286000" cy="7589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9125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🔴 Röd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191256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</a:rPr>
              <a:t>Kurs under MA200 i 2 dagar i rad. Säljsignal aktiverad (kat. 3–6).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95344"/>
            <a:ext cx="1133856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895344"/>
            <a:ext cx="2286000" cy="7589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7822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🛑 Nödutgång hård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078224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</a:rPr>
              <a:t>Kurs under 90% av GAV (kat. 3–6). Byt till Ankaret.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782312"/>
            <a:ext cx="1133856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782312"/>
            <a:ext cx="2286000" cy="7589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96519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⚠️ Nödutgång mjuk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96519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3A5F"/>
                </a:solidFill>
              </a:rPr>
              <a:t>Kurs under 90% av GAV (kat. 1–2). Analysera, panikhandla inte.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852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</a:rPr>
              <a:t>💡 MA200 hämtas automatiskt via Alpha Vantage API. Ange ticker per aktie under Innehav → 📡 Tickers &amp; MA200 och klicka "Uppdatera alla MA200".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5 — Innehav i detalj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Tabellvy, sortering och koncentrationsrisk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Namn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Aktiens namn + eventuell anteckning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801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Kategori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Vilken av de 6 kategorierna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86000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774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Valuta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SEK, USD, EUR m.m.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286000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3774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Antal &amp; GAV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97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Antal aktier och genomsnittligt anskaffningsvärde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83280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74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Kurs (SEK/Lokal)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794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Pris i SEK + lokal valuta för utländska aktier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383280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474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MA200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200-dagars glidande medel + gummiband-indikator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480559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57199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Signal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892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Grön / Gul / Röd + nödutgångsbadge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4480559"/>
            <a:ext cx="5394960" cy="9784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57199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Andel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892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</a:rPr>
              <a:t>Vikt i portföljen — gul &gt;8%, orange &gt;12%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715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</a:rPr>
              <a:t>💡 Klicka på kolumnrubrik för att sortera. På iPad visas mobilkort — samma info, optimerad för pekskärm.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6 — Alpha Vantage &amp; automatisk MA200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Så hämtar du MA200 med ett knapptryck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594360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3619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2801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Skaffa API-nyckel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66420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Gå till alphavantage.co/support/#api-key — registrera och kopiera din gratis-nyckel.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594360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53619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28016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Ange nyckel i appen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166420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Innehav → 📡 Tickers &amp; MA200 → klistra in nyckeln i fältet "Alpha Vantage API-nyckel".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65176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51760"/>
            <a:ext cx="594360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9923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743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Ange eller sök tickers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12724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Skriv tickern direkt (t.ex. NVDA, SAAB-B.STO) ELLER klicka 🔍 och sök på bolagsnamnet.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5176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651760"/>
            <a:ext cx="594360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299923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2743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Välj rätt träff vid sökning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12724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Titta på börs och valuta i listan. Välj den som stämmer med din portfölj (SEK för svenska aktier).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1480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114800"/>
            <a:ext cx="594360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46227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Spara och hämta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459028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Klicka "💾 Spara tickers" och sedan "📡 Hämta MA200 för alla". Vänta ca 15s/aktie.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11480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114800"/>
            <a:ext cx="594360" cy="13258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4462272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3A5F"/>
                </a:solidFill>
              </a:rPr>
              <a:t>Kontrollera resultatet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59028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Grön ✓ = hämtad. Röd ⚠ = fel ticker eller fel valuta — använd 🔍 för att hitta rätt symbol.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7 — Kassa och ISK-skatt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Likviditet, konton och skatteprognos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</a:rPr>
              <a:t>💵 Kassahantering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Positionskassa — hämtas automatiskt från Avanzas positionsfil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"Tillgängligt för köp" — ange manuellt för konton som saknas i positionsfilen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De två adderas — ange INTE hela saldot manuellt om positionsfilen redan täcker det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Kassa visas som grå sektor i kategoridonuten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Kassakonton (ISK, AF, Sparkonto) kan anges separat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</a:rPr>
              <a:t>📋 ISK-skatteprognos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Kassa → ISK/KF-skatt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Kapitalunderlag = snitt av Q1–Q4 + H1-insättningar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Schablonintäkt = Underlag × (SLR + 1%)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Beräknad skatt = Schablonintäkt × 30%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Insättningstajming: bättre att sätta in EFTER kvartalsskifte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Round-trip varning om uttag + insättning samma år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7150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</a:rPr>
              <a:t>💡 Kvartalsvärden hämtas automatiskt från importerade historikpunkter. Importera positionsfiler vid kvartalsskiftena för bästa precision.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8 — Backup och veckorutin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Säkerhetskopiera och håll portföljen uppdaterad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9496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</a:rPr>
              <a:t>📦 Backup &amp; återställning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Klicka "Excel" uppe till höger — exporterar 7 ark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Innehav · Transaktioner · Beslutslogg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Sammanfattning · Historik · Kassa · Kategorier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Återställ via Importera → Backup &amp; Återställning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Exportera minst en gång i veckan vid import!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Om webbhistorik rensas försvinner all data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Flytta data mellan iPad ↔ dator med backup-filen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48640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80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3A5F"/>
                </a:solidFill>
              </a:rPr>
              <a:t>📅 Veckorutin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1. Öppna avanza.se i Safari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2. Exportera ny positionsfil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3. Exportera transaktioner (om du gjort affärer)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4. Importera filerna i appen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5. Kontrollera signalbandet på Dashboard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6. Om signaler: gå till Signaler-fliken och agera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7. Kontrollera ombalanseringsbehov i Kategorier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8. Uppdatera MA200 via 📡 om kurser rört sig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9. Exportera Excel-backup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E293B"/>
                </a:solidFill>
              </a:rPr>
              <a:t>• 10. Skriv en notering i Beslutsloggen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Appendix — Kontrollräkna för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Formlerna bakom varje siffra i appen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52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Portföljvärde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Σ (Antal × Kurs i SEK) + Kassa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52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Vinst (kr)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727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Antal × Aktuell kurs − Antal × GAV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1031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6712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Vinst (%)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4871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(Aktuell kurs − GAV) / GAV × 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031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216712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FX — Bolagsvinst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4871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(Lokal kurs nu − GAV lokal) × Antal × Aktuell FX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08152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FX — Valutavinst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4015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Total vinst (SEK) − Bolagsvinst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0175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081527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Periodens avkastning (kr)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4015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Nuvärd − Startvärde − Nettoinflöde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319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959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Periodens avkastning (%)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15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Avkastning / (Startvärde + Nettoinflöde) × 100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9319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39959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Ombalansering (kr)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4315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(Målmitten% − Nuv.vikt%) × Totalt portföljvärde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8463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9103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ISK-kapitalunderlag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2303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(Q1 + Q2 + Q3 + Q4) / 4 + H1-insättningar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846320"/>
            <a:ext cx="539496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49103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</a:rPr>
              <a:t>ISK-skatt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2303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Underlag × (SLR + 1%) × 30%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F2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73152" cy="2286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Du är redo att använda appen!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A5E9"/>
                </a:solidFill>
              </a:rPr>
              <a:t>Kom ihåg: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E2E8F0"/>
                </a:solidFill>
              </a:rPr>
              <a:t>• Importera ny positionsfil varje vecka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E2E8F0"/>
                </a:solidFill>
              </a:rPr>
              <a:t>• Exportera Excel-backup direkt efter import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E2E8F0"/>
                </a:solidFill>
              </a:rPr>
              <a:t>• Kontrollera Signaler-fliken — agera om rött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E2E8F0"/>
                </a:solidFill>
              </a:rPr>
              <a:t>• Uppdatera MA200 via Alpha Vantage regelbundet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E2E8F0"/>
                </a:solidFill>
              </a:rPr>
              <a:t>• Ange rätt ticker — använd 🔍 om du är osäker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3C5FD"/>
                </a:solidFill>
              </a:rPr>
              <a:t>Strategiportföljen v3.0 · Byggd för Martin · Strategi från januari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 3 (nytt i v3.01) — Kategoriutveckling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83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AD8F7"/>
                </a:solidFill>
              </a:rPr>
              <a:t>Varje kategoris värde, kr och % samlade på ett ställe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</a:rPr>
              <a:t>Strategiportföljen — Kursmaterial för nybörjare · v3.01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3A5F"/>
                </a:solidFill>
              </a:rPr>
              <a:t>Det nya Kategoriutvecklingskortet på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45920"/>
            <a:ext cx="6858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Placerat direkt under Periodutveckling-kortet — alltid i sikte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Visar aktuellt värde (kr) per kategori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Förändring i kronor — röd/grön färgkod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Förändring i procent — badge med +/−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Kategorins andel av hela portföljen (inkl. kassa)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E293B"/>
                </a:solidFill>
              </a:rPr>
              <a:t>• Sortering: störst absolut förändring i kronor överst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526280"/>
            <a:ext cx="6858000" cy="14630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4ED8"/>
                </a:solidFill>
              </a:rPr>
              <a:t>💡 Smart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Om perioden saknar historikdata används orealiserad vinst sedan köp (GAV) som jämförelsebas. Tabellen är alltid synlig — oavsett period.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1188720"/>
            <a:ext cx="3931920" cy="4800600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1188720"/>
            <a:ext cx="39319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2161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Kolumnerna i tabellen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1691640"/>
            <a:ext cx="3931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17556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3A5F"/>
                </a:solidFill>
              </a:rPr>
              <a:t>Kategori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03911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Namn + mini-stapel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2468880"/>
            <a:ext cx="3931920" cy="713232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532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Värde 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81635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Marknadsvärde i kr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3246120"/>
            <a:ext cx="3931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3310127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Förändring (kr)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593591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+/- i kronor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3931920" cy="713232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408736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A34A"/>
                </a:solidFill>
              </a:rPr>
              <a:t>Förändring (%)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3708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Badge med procent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4800600"/>
            <a:ext cx="3931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1000" y="48646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</a:rPr>
              <a:t>Andel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148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</a:rPr>
              <a:t>Av hela portföljen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